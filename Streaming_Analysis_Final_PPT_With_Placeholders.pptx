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1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noroy\Downloads\streaming_service_data\Excel_dashboard\streaming_service_data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[streaming_service_data.xlsx]Subscription &amp; Revenue Analysis!PivotTable1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kern="1200" spc="0" baseline="0">
                <a:solidFill>
                  <a:srgbClr val="E8E8E8"/>
                </a:solidFill>
              </a:rPr>
              <a:t>Users by Price Tier</a:t>
            </a:r>
            <a:endParaRPr lang="en-IN" sz="1200" b="1">
              <a:solidFill>
                <a:schemeClr val="bg2"/>
              </a:solidFill>
            </a:endParaRPr>
          </a:p>
        </c:rich>
      </c:tx>
      <c:layout>
        <c:manualLayout>
          <c:xMode val="edge"/>
          <c:yMode val="edge"/>
          <c:x val="0.41478599221789886"/>
          <c:y val="0.11457567804024497"/>
        </c:manualLayout>
      </c:layout>
      <c:overlay val="0"/>
      <c:spPr>
        <a:solidFill>
          <a:schemeClr val="accent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'Subscription &amp; Revenue Analysis'!$B$3</c:f>
              <c:strCache>
                <c:ptCount val="1"/>
                <c:pt idx="0">
                  <c:v>No_of_user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'Subscription &amp; Revenue Analysis'!$A$4:$A$7</c:f>
              <c:strCache>
                <c:ptCount val="3"/>
                <c:pt idx="0">
                  <c:v>7.99</c:v>
                </c:pt>
                <c:pt idx="1">
                  <c:v>11.99</c:v>
                </c:pt>
                <c:pt idx="2">
                  <c:v>15.99</c:v>
                </c:pt>
              </c:strCache>
            </c:strRef>
          </c:cat>
          <c:val>
            <c:numRef>
              <c:f>'Subscription &amp; Revenue Analysis'!$B$4:$B$7</c:f>
              <c:numCache>
                <c:formatCode>General</c:formatCode>
                <c:ptCount val="3"/>
                <c:pt idx="0">
                  <c:v>323</c:v>
                </c:pt>
                <c:pt idx="1">
                  <c:v>345</c:v>
                </c:pt>
                <c:pt idx="2">
                  <c:v>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5B-4F24-BEBE-82237553D9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7935391"/>
        <c:axId val="367812031"/>
      </c:barChart>
      <c:lineChart>
        <c:grouping val="standard"/>
        <c:varyColors val="0"/>
        <c:ser>
          <c:idx val="1"/>
          <c:order val="1"/>
          <c:tx>
            <c:strRef>
              <c:f>'Subscription &amp; Revenue Analysis'!$C$3</c:f>
              <c:strCache>
                <c:ptCount val="1"/>
                <c:pt idx="0">
                  <c:v>Monthly_revenue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'Subscription &amp; Revenue Analysis'!$A$4:$A$7</c:f>
              <c:strCache>
                <c:ptCount val="3"/>
                <c:pt idx="0">
                  <c:v>7.99</c:v>
                </c:pt>
                <c:pt idx="1">
                  <c:v>11.99</c:v>
                </c:pt>
                <c:pt idx="2">
                  <c:v>15.99</c:v>
                </c:pt>
              </c:strCache>
            </c:strRef>
          </c:cat>
          <c:val>
            <c:numRef>
              <c:f>'Subscription &amp; Revenue Analysis'!$C$4:$C$7</c:f>
              <c:numCache>
                <c:formatCode>_-[$$-409]* #,##0.00_ ;_-[$$-409]* \-#,##0.00\ ;_-[$$-409]* "-"??_ ;_-@_ </c:formatCode>
                <c:ptCount val="3"/>
                <c:pt idx="0">
                  <c:v>2580.7699999999877</c:v>
                </c:pt>
                <c:pt idx="1">
                  <c:v>4136.5499999999638</c:v>
                </c:pt>
                <c:pt idx="2">
                  <c:v>5308.6799999999566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5B-4F24-BEBE-82237553D9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7814431"/>
        <c:axId val="367822591"/>
      </c:lineChart>
      <c:catAx>
        <c:axId val="3679353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100" b="1"/>
                  <a:t>Monthly_subscription_plan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7812031"/>
        <c:crosses val="autoZero"/>
        <c:auto val="1"/>
        <c:lblAlgn val="ctr"/>
        <c:lblOffset val="100"/>
        <c:noMultiLvlLbl val="0"/>
      </c:catAx>
      <c:valAx>
        <c:axId val="367812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100" b="1"/>
                  <a:t>No. of user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7935391"/>
        <c:crosses val="autoZero"/>
        <c:crossBetween val="between"/>
      </c:valAx>
      <c:valAx>
        <c:axId val="367822591"/>
        <c:scaling>
          <c:orientation val="minMax"/>
        </c:scaling>
        <c:delete val="0"/>
        <c:axPos val="r"/>
        <c:numFmt formatCode="_-[$$-409]* #,##0.00_ ;_-[$$-409]* \-#,##0.00\ ;_-[$$-409]* &quot;-&quot;??_ ;_-@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7814431"/>
        <c:crosses val="max"/>
        <c:crossBetween val="between"/>
      </c:valAx>
      <c:catAx>
        <c:axId val="3678144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67822591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0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[streaming_service_data.xlsx]User Engagement Metrics!PivotTable1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chemeClr val="bg2"/>
                </a:solidFill>
              </a:rPr>
              <a:t>Movies vs Series watch</a:t>
            </a:r>
            <a:r>
              <a:rPr lang="en-IN" b="1" baseline="0">
                <a:solidFill>
                  <a:schemeClr val="bg2"/>
                </a:solidFill>
              </a:rPr>
              <a:t> time</a:t>
            </a:r>
            <a:endParaRPr lang="en-IN" b="1">
              <a:solidFill>
                <a:schemeClr val="bg2"/>
              </a:solidFill>
            </a:endParaRPr>
          </a:p>
        </c:rich>
      </c:tx>
      <c:overlay val="0"/>
      <c:spPr>
        <a:solidFill>
          <a:schemeClr val="accent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'User Engagement Metrics'!$A$8</c:f>
              <c:strCache>
                <c:ptCount val="1"/>
                <c:pt idx="0">
                  <c:v>Average of Total_Movies_Watched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'User Engagement Metrics'!$A$9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'User Engagement Metrics'!$A$9</c:f>
              <c:numCache>
                <c:formatCode>0.0</c:formatCode>
                <c:ptCount val="1"/>
                <c:pt idx="0">
                  <c:v>515.89700000000005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94-4490-8D6A-A8A7CB547AFC}"/>
            </c:ext>
          </c:extLst>
        </c:ser>
        <c:ser>
          <c:idx val="1"/>
          <c:order val="1"/>
          <c:tx>
            <c:strRef>
              <c:f>'User Engagement Metrics'!$B$8</c:f>
              <c:strCache>
                <c:ptCount val="1"/>
                <c:pt idx="0">
                  <c:v>Average of Total_Series_Watched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'User Engagement Metrics'!$A$9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'User Engagement Metrics'!$B$9</c:f>
              <c:numCache>
                <c:formatCode>0.00</c:formatCode>
                <c:ptCount val="1"/>
                <c:pt idx="0">
                  <c:v>99.745999999999995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94-4490-8D6A-A8A7CB547A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36822128"/>
        <c:axId val="2036822608"/>
      </c:barChart>
      <c:catAx>
        <c:axId val="20368221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36822608"/>
        <c:crosses val="autoZero"/>
        <c:auto val="1"/>
        <c:lblAlgn val="ctr"/>
        <c:lblOffset val="100"/>
        <c:noMultiLvlLbl val="0"/>
      </c:catAx>
      <c:valAx>
        <c:axId val="2036822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100" b="1"/>
                  <a:t>Hour</a:t>
                </a:r>
                <a:r>
                  <a:rPr lang="en-IN" sz="1100" b="1" baseline="0"/>
                  <a:t> watched</a:t>
                </a:r>
                <a:endParaRPr lang="en-IN" sz="11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82212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[streaming_service_data.xlsx]User Engagement Metrics!PivotTable2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Recomended content vs watch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'User Engagement Metrics'!$B$14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'User Engagement Metrics'!$A$15:$A$19</c:f>
              <c:strCache>
                <c:ptCount val="5"/>
                <c:pt idx="0">
                  <c:v>0-19</c:v>
                </c:pt>
                <c:pt idx="1">
                  <c:v>20-39</c:v>
                </c:pt>
                <c:pt idx="2">
                  <c:v>40-59</c:v>
                </c:pt>
                <c:pt idx="3">
                  <c:v>60-79</c:v>
                </c:pt>
                <c:pt idx="4">
                  <c:v>80-100</c:v>
                </c:pt>
              </c:strCache>
            </c:strRef>
          </c:cat>
          <c:val>
            <c:numRef>
              <c:f>'User Engagement Metrics'!$B$15:$B$19</c:f>
              <c:numCache>
                <c:formatCode>0.00</c:formatCode>
                <c:ptCount val="5"/>
                <c:pt idx="0">
                  <c:v>261.01025641025643</c:v>
                </c:pt>
                <c:pt idx="1">
                  <c:v>256.42774566473986</c:v>
                </c:pt>
                <c:pt idx="2">
                  <c:v>245.25980392156862</c:v>
                </c:pt>
                <c:pt idx="3">
                  <c:v>267.59223300970876</c:v>
                </c:pt>
                <c:pt idx="4">
                  <c:v>243.69369369369369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94-49AE-8E5B-F26609E4B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67895551"/>
        <c:axId val="367896031"/>
      </c:barChart>
      <c:catAx>
        <c:axId val="3678955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Recomended content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7896031"/>
        <c:crosses val="autoZero"/>
        <c:auto val="1"/>
        <c:lblAlgn val="ctr"/>
        <c:lblOffset val="100"/>
        <c:noMultiLvlLbl val="0"/>
      </c:catAx>
      <c:valAx>
        <c:axId val="367896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Avg hour watched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7895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[streaming_service_data.xlsx]Demographic&amp;Behavioral_Insight!PivotTable4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Device usage trends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'Demographic&amp;Behavioral_Insight'!$B$29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DB2-4A48-BA4C-5773FEC62E9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DB2-4A48-BA4C-5773FEC62E9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DB2-4A48-BA4C-5773FEC62E9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DB2-4A48-BA4C-5773FEC62E9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DDB2-4A48-BA4C-5773FEC62E9D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'Demographic&amp;Behavioral_Insight'!$A$30:$A$35</c:f>
              <c:strCache>
                <c:ptCount val="5"/>
                <c:pt idx="0">
                  <c:v>Desktop</c:v>
                </c:pt>
                <c:pt idx="1">
                  <c:v>Laptop</c:v>
                </c:pt>
                <c:pt idx="2">
                  <c:v>Smart TV</c:v>
                </c:pt>
                <c:pt idx="3">
                  <c:v>Smartphone</c:v>
                </c:pt>
                <c:pt idx="4">
                  <c:v>Tablet</c:v>
                </c:pt>
              </c:strCache>
            </c:strRef>
          </c:cat>
          <c:val>
            <c:numRef>
              <c:f>'Demographic&amp;Behavioral_Insight'!$B$30:$B$35</c:f>
              <c:numCache>
                <c:formatCode>General</c:formatCode>
                <c:ptCount val="5"/>
                <c:pt idx="0">
                  <c:v>189</c:v>
                </c:pt>
                <c:pt idx="1">
                  <c:v>178</c:v>
                </c:pt>
                <c:pt idx="2">
                  <c:v>209</c:v>
                </c:pt>
                <c:pt idx="3">
                  <c:v>209</c:v>
                </c:pt>
                <c:pt idx="4">
                  <c:v>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DB2-4A48-BA4C-5773FEC62E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[streaming_service_data.xlsx]Demographic&amp;Behavioral_Insight!PivotTable5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Peak watch time trends (Morning, Evening, Late Night)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'Demographic&amp;Behavioral_Insight'!$B$40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'Demographic&amp;Behavioral_Insight'!$A$41:$A$45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Late Night</c:v>
                </c:pt>
              </c:strCache>
            </c:strRef>
          </c:cat>
          <c:val>
            <c:numRef>
              <c:f>'Demographic&amp;Behavioral_Insight'!$B$41:$B$45</c:f>
              <c:numCache>
                <c:formatCode>0.00%</c:formatCode>
                <c:ptCount val="4"/>
                <c:pt idx="0">
                  <c:v>0.222</c:v>
                </c:pt>
                <c:pt idx="1">
                  <c:v>0.251</c:v>
                </c:pt>
                <c:pt idx="2">
                  <c:v>0.25600000000000001</c:v>
                </c:pt>
                <c:pt idx="3">
                  <c:v>0.27100000000000002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69-44A4-A199-39A338910D5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67929631"/>
        <c:axId val="367930591"/>
      </c:barChart>
      <c:catAx>
        <c:axId val="3679296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/>
                  <a:t>Watch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7930591"/>
        <c:crosses val="autoZero"/>
        <c:auto val="1"/>
        <c:lblAlgn val="ctr"/>
        <c:lblOffset val="100"/>
        <c:noMultiLvlLbl val="0"/>
      </c:catAx>
      <c:valAx>
        <c:axId val="36793059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200"/>
                  <a:t>% of user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crossAx val="367929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[streaming_service_data.xlsx]Retention &amp; Loyalty!PivotTable7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Loyalty points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'Retention &amp; Loyalty'!$B$9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'Retention &amp; Loyalty'!$A$10:$A$20</c:f>
              <c:strCache>
                <c:ptCount val="10"/>
                <c:pt idx="0">
                  <c:v>0-499</c:v>
                </c:pt>
                <c:pt idx="1">
                  <c:v>1000-1499</c:v>
                </c:pt>
                <c:pt idx="2">
                  <c:v>1500-1999</c:v>
                </c:pt>
                <c:pt idx="3">
                  <c:v>2000-2499</c:v>
                </c:pt>
                <c:pt idx="4">
                  <c:v>2500-2999</c:v>
                </c:pt>
                <c:pt idx="5">
                  <c:v>3000-3499</c:v>
                </c:pt>
                <c:pt idx="6">
                  <c:v>3500-3999</c:v>
                </c:pt>
                <c:pt idx="7">
                  <c:v>4000-4499</c:v>
                </c:pt>
                <c:pt idx="8">
                  <c:v>4500-4999</c:v>
                </c:pt>
                <c:pt idx="9">
                  <c:v>500-999</c:v>
                </c:pt>
              </c:strCache>
            </c:strRef>
          </c:cat>
          <c:val>
            <c:numRef>
              <c:f>'Retention &amp; Loyalty'!$B$10:$B$20</c:f>
              <c:numCache>
                <c:formatCode>General</c:formatCode>
                <c:ptCount val="10"/>
                <c:pt idx="0">
                  <c:v>108</c:v>
                </c:pt>
                <c:pt idx="1">
                  <c:v>104</c:v>
                </c:pt>
                <c:pt idx="2">
                  <c:v>112</c:v>
                </c:pt>
                <c:pt idx="3">
                  <c:v>87</c:v>
                </c:pt>
                <c:pt idx="4">
                  <c:v>109</c:v>
                </c:pt>
                <c:pt idx="5">
                  <c:v>96</c:v>
                </c:pt>
                <c:pt idx="6">
                  <c:v>95</c:v>
                </c:pt>
                <c:pt idx="7">
                  <c:v>97</c:v>
                </c:pt>
                <c:pt idx="8">
                  <c:v>94</c:v>
                </c:pt>
                <c:pt idx="9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B7-4447-9712-67AF69C239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43832096"/>
        <c:axId val="1143829696"/>
      </c:barChart>
      <c:catAx>
        <c:axId val="11438320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Loyalty points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829696"/>
        <c:crosses val="autoZero"/>
        <c:auto val="1"/>
        <c:lblAlgn val="ctr"/>
        <c:lblOffset val="100"/>
        <c:noMultiLvlLbl val="0"/>
      </c:catAx>
      <c:valAx>
        <c:axId val="114382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No. of user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832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[streaming_service_data.xlsx]Payment Preferences&amp;RegionalTre!PivotTable2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chemeClr val="bg2"/>
                </a:solidFill>
              </a:rPr>
              <a:t>Preferred Payment Methods by Region</a:t>
            </a:r>
          </a:p>
        </c:rich>
      </c:tx>
      <c:overlay val="0"/>
      <c:spPr>
        <a:solidFill>
          <a:schemeClr val="accent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'Payment Preferences&amp;RegionalTre'!$B$2:$B$3</c:f>
              <c:strCache>
                <c:ptCount val="1"/>
                <c:pt idx="0">
                  <c:v>Credit Card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'Payment Preferences&amp;RegionalTre'!$A$4:$A$11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Preferences&amp;RegionalTre'!$B$4:$B$11</c:f>
              <c:numCache>
                <c:formatCode>0.00%</c:formatCode>
                <c:ptCount val="7"/>
                <c:pt idx="0">
                  <c:v>0.15714285714285714</c:v>
                </c:pt>
                <c:pt idx="1">
                  <c:v>0.2446043165467626</c:v>
                </c:pt>
                <c:pt idx="2">
                  <c:v>0.25827814569536423</c:v>
                </c:pt>
                <c:pt idx="3">
                  <c:v>0.21232876712328766</c:v>
                </c:pt>
                <c:pt idx="4">
                  <c:v>0.21551724137931033</c:v>
                </c:pt>
                <c:pt idx="5">
                  <c:v>0.22</c:v>
                </c:pt>
                <c:pt idx="6">
                  <c:v>0.27848101265822783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B5-4F24-B2FC-B074CA5B2487}"/>
            </c:ext>
          </c:extLst>
        </c:ser>
        <c:ser>
          <c:idx val="1"/>
          <c:order val="1"/>
          <c:tx>
            <c:strRef>
              <c:f>'Payment Preferences&amp;RegionalTre'!$C$2:$C$3</c:f>
              <c:strCache>
                <c:ptCount val="1"/>
                <c:pt idx="0">
                  <c:v>Cryptocurrency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'Payment Preferences&amp;RegionalTre'!$A$4:$A$11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Preferences&amp;RegionalTre'!$C$4:$C$11</c:f>
              <c:numCache>
                <c:formatCode>0.00%</c:formatCode>
                <c:ptCount val="7"/>
                <c:pt idx="0">
                  <c:v>0.31428571428571428</c:v>
                </c:pt>
                <c:pt idx="1">
                  <c:v>0.19424460431654678</c:v>
                </c:pt>
                <c:pt idx="2">
                  <c:v>0.27152317880794702</c:v>
                </c:pt>
                <c:pt idx="3">
                  <c:v>0.23972602739726026</c:v>
                </c:pt>
                <c:pt idx="4">
                  <c:v>0.25</c:v>
                </c:pt>
                <c:pt idx="5">
                  <c:v>0.25333333333333335</c:v>
                </c:pt>
                <c:pt idx="6">
                  <c:v>0.25316455696202533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B5-4F24-B2FC-B074CA5B2487}"/>
            </c:ext>
          </c:extLst>
        </c:ser>
        <c:ser>
          <c:idx val="2"/>
          <c:order val="2"/>
          <c:tx>
            <c:strRef>
              <c:f>'Payment Preferences&amp;RegionalTre'!$D$2:$D$3</c:f>
              <c:strCache>
                <c:ptCount val="1"/>
                <c:pt idx="0">
                  <c:v>Debit Card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'Payment Preferences&amp;RegionalTre'!$A$4:$A$11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Preferences&amp;RegionalTre'!$D$4:$D$11</c:f>
              <c:numCache>
                <c:formatCode>0.00%</c:formatCode>
                <c:ptCount val="7"/>
                <c:pt idx="0">
                  <c:v>0.27142857142857141</c:v>
                </c:pt>
                <c:pt idx="1">
                  <c:v>0.25899280575539568</c:v>
                </c:pt>
                <c:pt idx="2">
                  <c:v>0.20529801324503311</c:v>
                </c:pt>
                <c:pt idx="3">
                  <c:v>0.29452054794520549</c:v>
                </c:pt>
                <c:pt idx="4">
                  <c:v>0.33620689655172414</c:v>
                </c:pt>
                <c:pt idx="5">
                  <c:v>0.20666666666666667</c:v>
                </c:pt>
                <c:pt idx="6">
                  <c:v>0.19620253164556961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B5-4F24-B2FC-B074CA5B2487}"/>
            </c:ext>
          </c:extLst>
        </c:ser>
        <c:ser>
          <c:idx val="3"/>
          <c:order val="3"/>
          <c:tx>
            <c:strRef>
              <c:f>'Payment Preferences&amp;RegionalTre'!$E$2:$E$3</c:f>
              <c:strCache>
                <c:ptCount val="1"/>
                <c:pt idx="0">
                  <c:v>PayPal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'Payment Preferences&amp;RegionalTre'!$A$4:$A$11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Preferences&amp;RegionalTre'!$E$4:$E$11</c:f>
              <c:numCache>
                <c:formatCode>0.00%</c:formatCode>
                <c:ptCount val="7"/>
                <c:pt idx="0">
                  <c:v>0.25714285714285712</c:v>
                </c:pt>
                <c:pt idx="1">
                  <c:v>0.30215827338129497</c:v>
                </c:pt>
                <c:pt idx="2">
                  <c:v>0.26490066225165565</c:v>
                </c:pt>
                <c:pt idx="3">
                  <c:v>0.25342465753424659</c:v>
                </c:pt>
                <c:pt idx="4">
                  <c:v>0.19827586206896552</c:v>
                </c:pt>
                <c:pt idx="5">
                  <c:v>0.32</c:v>
                </c:pt>
                <c:pt idx="6">
                  <c:v>0.27215189873417722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7B5-4F24-B2FC-B074CA5B24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50179040"/>
        <c:axId val="350181920"/>
      </c:barChart>
      <c:catAx>
        <c:axId val="350179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181920"/>
        <c:crosses val="autoZero"/>
        <c:auto val="1"/>
        <c:lblAlgn val="ctr"/>
        <c:lblOffset val="100"/>
        <c:noMultiLvlLbl val="0"/>
      </c:catAx>
      <c:valAx>
        <c:axId val="350181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179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solidFill>
            <a:schemeClr val="accent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[streaming_service_data.xlsx]Payment Preferences&amp;RegionalTre!PivotTable3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chemeClr val="bg2"/>
                </a:solidFill>
              </a:rPr>
              <a:t>Subscription Trends by Country</a:t>
            </a:r>
          </a:p>
        </c:rich>
      </c:tx>
      <c:overlay val="0"/>
      <c:spPr>
        <a:solidFill>
          <a:schemeClr val="accent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'Payment Preferences&amp;RegionalTre'!$B$29:$B$30</c:f>
              <c:strCache>
                <c:ptCount val="1"/>
                <c:pt idx="0">
                  <c:v> $7.99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'Payment Preferences&amp;RegionalTre'!$A$31:$A$38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Preferences&amp;RegionalTre'!$B$31:$B$38</c:f>
              <c:numCache>
                <c:formatCode>0.00%</c:formatCode>
                <c:ptCount val="7"/>
                <c:pt idx="0">
                  <c:v>0.27857142857142858</c:v>
                </c:pt>
                <c:pt idx="1">
                  <c:v>0.33093525179856115</c:v>
                </c:pt>
                <c:pt idx="2">
                  <c:v>0.35761589403973509</c:v>
                </c:pt>
                <c:pt idx="3">
                  <c:v>0.33561643835616439</c:v>
                </c:pt>
                <c:pt idx="4">
                  <c:v>0.29310344827586204</c:v>
                </c:pt>
                <c:pt idx="5">
                  <c:v>0.32</c:v>
                </c:pt>
                <c:pt idx="6">
                  <c:v>0.33544303797468356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39-482B-9CF3-48E3B3471D42}"/>
            </c:ext>
          </c:extLst>
        </c:ser>
        <c:ser>
          <c:idx val="1"/>
          <c:order val="1"/>
          <c:tx>
            <c:strRef>
              <c:f>'Payment Preferences&amp;RegionalTre'!$C$29:$C$30</c:f>
              <c:strCache>
                <c:ptCount val="1"/>
                <c:pt idx="0">
                  <c:v> $11.99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'Payment Preferences&amp;RegionalTre'!$A$31:$A$38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Preferences&amp;RegionalTre'!$C$31:$C$38</c:f>
              <c:numCache>
                <c:formatCode>0.00%</c:formatCode>
                <c:ptCount val="7"/>
                <c:pt idx="0">
                  <c:v>0.35714285714285715</c:v>
                </c:pt>
                <c:pt idx="1">
                  <c:v>0.31654676258992803</c:v>
                </c:pt>
                <c:pt idx="2">
                  <c:v>0.33112582781456956</c:v>
                </c:pt>
                <c:pt idx="3">
                  <c:v>0.34931506849315069</c:v>
                </c:pt>
                <c:pt idx="4">
                  <c:v>0.38793103448275862</c:v>
                </c:pt>
                <c:pt idx="5">
                  <c:v>0.34666666666666668</c:v>
                </c:pt>
                <c:pt idx="6">
                  <c:v>0.33544303797468356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39-482B-9CF3-48E3B3471D42}"/>
            </c:ext>
          </c:extLst>
        </c:ser>
        <c:ser>
          <c:idx val="2"/>
          <c:order val="2"/>
          <c:tx>
            <c:strRef>
              <c:f>'Payment Preferences&amp;RegionalTre'!$D$29:$D$30</c:f>
              <c:strCache>
                <c:ptCount val="1"/>
                <c:pt idx="0">
                  <c:v> $15.99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'Payment Preferences&amp;RegionalTre'!$A$31:$A$38</c:f>
              <c:strCache>
                <c:ptCount val="7"/>
                <c:pt idx="0">
                  <c:v>Australia</c:v>
                </c:pt>
                <c:pt idx="1">
                  <c:v>Canada</c:v>
                </c:pt>
                <c:pt idx="2">
                  <c:v>France</c:v>
                </c:pt>
                <c:pt idx="3">
                  <c:v>Germany</c:v>
                </c:pt>
                <c:pt idx="4">
                  <c:v>India</c:v>
                </c:pt>
                <c:pt idx="5">
                  <c:v>UK</c:v>
                </c:pt>
                <c:pt idx="6">
                  <c:v>USA</c:v>
                </c:pt>
              </c:strCache>
            </c:strRef>
          </c:cat>
          <c:val>
            <c:numRef>
              <c:f>'Payment Preferences&amp;RegionalTre'!$D$31:$D$38</c:f>
              <c:numCache>
                <c:formatCode>0.00%</c:formatCode>
                <c:ptCount val="7"/>
                <c:pt idx="0">
                  <c:v>0.36428571428571427</c:v>
                </c:pt>
                <c:pt idx="1">
                  <c:v>0.35251798561151076</c:v>
                </c:pt>
                <c:pt idx="2">
                  <c:v>0.31125827814569534</c:v>
                </c:pt>
                <c:pt idx="3">
                  <c:v>0.31506849315068491</c:v>
                </c:pt>
                <c:pt idx="4">
                  <c:v>0.31896551724137934</c:v>
                </c:pt>
                <c:pt idx="5">
                  <c:v>0.33333333333333331</c:v>
                </c:pt>
                <c:pt idx="6">
                  <c:v>0.32911392405063289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39-482B-9CF3-48E3B3471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0193920"/>
        <c:axId val="350194400"/>
      </c:barChart>
      <c:catAx>
        <c:axId val="350193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194400"/>
        <c:crosses val="autoZero"/>
        <c:auto val="1"/>
        <c:lblAlgn val="ctr"/>
        <c:lblOffset val="100"/>
        <c:noMultiLvlLbl val="0"/>
      </c:catAx>
      <c:valAx>
        <c:axId val="350194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193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[streaming_service_data.xlsx]Payment Preferences&amp;RegionalTre!PivotTable4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400" b="1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Language Preferences &amp; Engagement</a:t>
            </a:r>
          </a:p>
        </c:rich>
      </c:tx>
      <c:overlay val="0"/>
      <c:spPr>
        <a:solidFill>
          <a:schemeClr val="accent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400" b="1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'Payment Preferences&amp;RegionalTre'!$B$57</c:f>
              <c:strCache>
                <c:ptCount val="1"/>
                <c:pt idx="0">
                  <c:v>Average of Watch_Hours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'Payment Preferences&amp;RegionalTre'!$A$58:$A$64</c:f>
              <c:strCache>
                <c:ptCount val="6"/>
                <c:pt idx="0">
                  <c:v>English</c:v>
                </c:pt>
                <c:pt idx="1">
                  <c:v>French</c:v>
                </c:pt>
                <c:pt idx="2">
                  <c:v>German</c:v>
                </c:pt>
                <c:pt idx="3">
                  <c:v>Hindi</c:v>
                </c:pt>
                <c:pt idx="4">
                  <c:v>Mandarin</c:v>
                </c:pt>
                <c:pt idx="5">
                  <c:v>Spanish</c:v>
                </c:pt>
              </c:strCache>
            </c:strRef>
          </c:cat>
          <c:val>
            <c:numRef>
              <c:f>'Payment Preferences&amp;RegionalTre'!$B$58:$B$64</c:f>
              <c:numCache>
                <c:formatCode>0.00</c:formatCode>
                <c:ptCount val="6"/>
                <c:pt idx="0">
                  <c:v>248.38095238095238</c:v>
                </c:pt>
                <c:pt idx="1">
                  <c:v>273.46198830409355</c:v>
                </c:pt>
                <c:pt idx="2">
                  <c:v>244.79640718562874</c:v>
                </c:pt>
                <c:pt idx="3">
                  <c:v>253.35802469135803</c:v>
                </c:pt>
                <c:pt idx="4">
                  <c:v>243.33519553072625</c:v>
                </c:pt>
                <c:pt idx="5">
                  <c:v>264.99346405228761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2-4986-AC2B-2657439A3880}"/>
            </c:ext>
          </c:extLst>
        </c:ser>
        <c:ser>
          <c:idx val="1"/>
          <c:order val="1"/>
          <c:tx>
            <c:strRef>
              <c:f>'Payment Preferences&amp;RegionalTre'!$C$57</c:f>
              <c:strCache>
                <c:ptCount val="1"/>
                <c:pt idx="0">
                  <c:v>Count of User_ID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'Payment Preferences&amp;RegionalTre'!$A$58:$A$64</c:f>
              <c:strCache>
                <c:ptCount val="6"/>
                <c:pt idx="0">
                  <c:v>English</c:v>
                </c:pt>
                <c:pt idx="1">
                  <c:v>French</c:v>
                </c:pt>
                <c:pt idx="2">
                  <c:v>German</c:v>
                </c:pt>
                <c:pt idx="3">
                  <c:v>Hindi</c:v>
                </c:pt>
                <c:pt idx="4">
                  <c:v>Mandarin</c:v>
                </c:pt>
                <c:pt idx="5">
                  <c:v>Spanish</c:v>
                </c:pt>
              </c:strCache>
            </c:strRef>
          </c:cat>
          <c:val>
            <c:numRef>
              <c:f>'Payment Preferences&amp;RegionalTre'!$C$58:$C$64</c:f>
              <c:numCache>
                <c:formatCode>General</c:formatCode>
                <c:ptCount val="6"/>
                <c:pt idx="0">
                  <c:v>168</c:v>
                </c:pt>
                <c:pt idx="1">
                  <c:v>171</c:v>
                </c:pt>
                <c:pt idx="2">
                  <c:v>167</c:v>
                </c:pt>
                <c:pt idx="3">
                  <c:v>162</c:v>
                </c:pt>
                <c:pt idx="4">
                  <c:v>179</c:v>
                </c:pt>
                <c:pt idx="5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A2-4986-AC2B-2657439A38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0206880"/>
        <c:axId val="350246240"/>
      </c:barChart>
      <c:catAx>
        <c:axId val="350206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246240"/>
        <c:crosses val="autoZero"/>
        <c:auto val="1"/>
        <c:lblAlgn val="ctr"/>
        <c:lblOffset val="100"/>
        <c:noMultiLvlLbl val="0"/>
      </c:catAx>
      <c:valAx>
        <c:axId val="350246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206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[streaming_service_data.xlsx]Retention &amp; Loyalty!PivotTable1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 u="none" strike="noStrike" kern="1200" spc="0" baseline="0">
                <a:solidFill>
                  <a:srgbClr val="E8E8E8"/>
                </a:solidFill>
                <a:latin typeface="+mn-lt"/>
                <a:ea typeface="+mn-ea"/>
                <a:cs typeface="+mn-cs"/>
              </a:defRPr>
            </a:pPr>
            <a:r>
              <a:rPr lang="en-IN" b="1" i="0">
                <a:solidFill>
                  <a:schemeClr val="bg2"/>
                </a:solidFill>
                <a:effectLst/>
              </a:rPr>
              <a:t>Login Frequency (Days Since Last Login </a:t>
            </a:r>
            <a:r>
              <a:rPr lang="en-IN" b="1" i="0">
                <a:effectLst/>
              </a:rPr>
              <a:t>as‑of date 31‑Dec‑2024</a:t>
            </a:r>
            <a:r>
              <a:rPr lang="en-IN" b="1" i="0">
                <a:solidFill>
                  <a:schemeClr val="bg2"/>
                </a:solidFill>
                <a:effectLst/>
              </a:rPr>
              <a:t>)</a:t>
            </a:r>
          </a:p>
        </c:rich>
      </c:tx>
      <c:overlay val="0"/>
      <c:spPr>
        <a:solidFill>
          <a:schemeClr val="accent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t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1" i="0" u="none" strike="noStrike" kern="1200" spc="0" baseline="0">
              <a:solidFill>
                <a:srgbClr val="E8E8E8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829444780487098"/>
          <c:y val="0.14141069963987093"/>
          <c:w val="0.85514641325138874"/>
          <c:h val="0.554995634981153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'Retention &amp; Loyalty'!$B$46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'Retention &amp; Loyalty'!$A$47:$A$63</c:f>
              <c:strCache>
                <c:ptCount val="16"/>
                <c:pt idx="0">
                  <c:v>7-13</c:v>
                </c:pt>
                <c:pt idx="1">
                  <c:v>14-20</c:v>
                </c:pt>
                <c:pt idx="2">
                  <c:v>28-34</c:v>
                </c:pt>
                <c:pt idx="3">
                  <c:v>35-41</c:v>
                </c:pt>
                <c:pt idx="4">
                  <c:v>42-48</c:v>
                </c:pt>
                <c:pt idx="5">
                  <c:v>49-55</c:v>
                </c:pt>
                <c:pt idx="6">
                  <c:v>77-83</c:v>
                </c:pt>
                <c:pt idx="7">
                  <c:v>105-111</c:v>
                </c:pt>
                <c:pt idx="8">
                  <c:v>140-146</c:v>
                </c:pt>
                <c:pt idx="9">
                  <c:v>168-174</c:v>
                </c:pt>
                <c:pt idx="10">
                  <c:v>196-202</c:v>
                </c:pt>
                <c:pt idx="11">
                  <c:v>231-237</c:v>
                </c:pt>
                <c:pt idx="12">
                  <c:v>259-265</c:v>
                </c:pt>
                <c:pt idx="13">
                  <c:v>294-300</c:v>
                </c:pt>
                <c:pt idx="14">
                  <c:v>322-328</c:v>
                </c:pt>
                <c:pt idx="15">
                  <c:v>350-356</c:v>
                </c:pt>
              </c:strCache>
            </c:strRef>
          </c:cat>
          <c:val>
            <c:numRef>
              <c:f>'Retention &amp; Loyalty'!$B$47:$B$63</c:f>
              <c:numCache>
                <c:formatCode>0.00%</c:formatCode>
                <c:ptCount val="16"/>
                <c:pt idx="0">
                  <c:v>2.8000000000000001E-2</c:v>
                </c:pt>
                <c:pt idx="1">
                  <c:v>0.20699999999999999</c:v>
                </c:pt>
                <c:pt idx="2">
                  <c:v>0.156</c:v>
                </c:pt>
                <c:pt idx="3">
                  <c:v>0.23400000000000001</c:v>
                </c:pt>
                <c:pt idx="4">
                  <c:v>3.1E-2</c:v>
                </c:pt>
                <c:pt idx="5">
                  <c:v>4.3999999999999997E-2</c:v>
                </c:pt>
                <c:pt idx="6">
                  <c:v>2.5999999999999999E-2</c:v>
                </c:pt>
                <c:pt idx="7">
                  <c:v>3.4000000000000002E-2</c:v>
                </c:pt>
                <c:pt idx="8">
                  <c:v>2.4E-2</c:v>
                </c:pt>
                <c:pt idx="9">
                  <c:v>0.03</c:v>
                </c:pt>
                <c:pt idx="10">
                  <c:v>2.4E-2</c:v>
                </c:pt>
                <c:pt idx="11">
                  <c:v>2.8000000000000001E-2</c:v>
                </c:pt>
                <c:pt idx="12">
                  <c:v>3.3000000000000002E-2</c:v>
                </c:pt>
                <c:pt idx="13">
                  <c:v>3.1E-2</c:v>
                </c:pt>
                <c:pt idx="14">
                  <c:v>3.5000000000000003E-2</c:v>
                </c:pt>
                <c:pt idx="15">
                  <c:v>3.5000000000000003E-2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95-4CD7-9D95-1B77D360F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50209760"/>
        <c:axId val="350210240"/>
      </c:barChart>
      <c:catAx>
        <c:axId val="3502097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1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100" b="1" i="0" dirty="0" err="1">
                    <a:effectLst/>
                  </a:rPr>
                  <a:t>Recency_Bucket</a:t>
                </a:r>
                <a:endParaRPr lang="en-IN" sz="1100" b="1" i="0" dirty="0">
                  <a:effectLst/>
                </a:endParaRPr>
              </a:p>
            </c:rich>
          </c:tx>
          <c:layout>
            <c:manualLayout>
              <c:xMode val="edge"/>
              <c:yMode val="edge"/>
              <c:x val="0.42729746281714792"/>
              <c:y val="0.787108486439195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1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210240"/>
        <c:crosses val="autoZero"/>
        <c:auto val="1"/>
        <c:lblAlgn val="ctr"/>
        <c:lblOffset val="100"/>
        <c:noMultiLvlLbl val="0"/>
      </c:catAx>
      <c:valAx>
        <c:axId val="350210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lang="en-IN" sz="11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r>
                  <a:rPr lang="en-IN" sz="1100" b="1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effectLst/>
                    <a:latin typeface="+mn-lt"/>
                    <a:ea typeface="+mn-ea"/>
                    <a:cs typeface="+mn-cs"/>
                  </a:rPr>
                  <a:t>% of user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en-IN" sz="1100" b="1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0209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[streaming_service_data.xlsx]Retention &amp; Loyalty!PivotTable8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r>
              <a:rPr lang="en-IN" b="1" i="0">
                <a:solidFill>
                  <a:schemeClr val="bg2"/>
                </a:solidFill>
                <a:effectLst/>
              </a:rPr>
              <a:t>Content Download Behavior (% of users)</a:t>
            </a:r>
          </a:p>
        </c:rich>
      </c:tx>
      <c:overlay val="0"/>
      <c:spPr>
        <a:solidFill>
          <a:schemeClr val="accent2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bg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'Retention &amp; Loyalty'!$B$27</c:f>
              <c:strCache>
                <c:ptCount val="1"/>
                <c:pt idx="0">
                  <c:v>Count of User_ID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26-4514-BA63-51C527F31FE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26-4514-BA63-51C527F31FEE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'Retention &amp; Loyalty'!$A$28:$A$30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'Retention &amp; Loyalty'!$B$28:$B$30</c:f>
              <c:numCache>
                <c:formatCode>General</c:formatCode>
                <c:ptCount val="2"/>
                <c:pt idx="0">
                  <c:v>501</c:v>
                </c:pt>
                <c:pt idx="1">
                  <c:v>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26-4514-BA63-51C527F31FEE}"/>
            </c:ext>
          </c:extLst>
        </c:ser>
        <c:ser>
          <c:idx val="1"/>
          <c:order val="1"/>
          <c:tx>
            <c:strRef>
              <c:f>'Retention &amp; Loyalty'!$C$27</c:f>
              <c:strCache>
                <c:ptCount val="1"/>
                <c:pt idx="0">
                  <c:v>% of User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F026-4514-BA63-51C527F31FE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F026-4514-BA63-51C527F31FEE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'Retention &amp; Loyalty'!$A$28:$A$30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'Retention &amp; Loyalty'!$C$28:$C$30</c:f>
              <c:numCache>
                <c:formatCode>0.00%</c:formatCode>
                <c:ptCount val="2"/>
                <c:pt idx="0">
                  <c:v>0.501</c:v>
                </c:pt>
                <c:pt idx="1">
                  <c:v>0.499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026-4514-BA63-51C527F31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0.26111</cdr:x>
      <cdr:y>0.8912</cdr:y>
    </cdr:from>
    <cdr:to>
      <cdr:x>0.9875</cdr:x>
      <cdr:y>0.99306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31B31D1C-73B6-068E-F3A4-CBF1492A97A5}"/>
            </a:ext>
          </a:extLst>
        </cdr:cNvPr>
        <cdr:cNvSpPr txBox="1"/>
      </cdr:nvSpPr>
      <cdr:spPr>
        <a:xfrm xmlns:a="http://schemas.openxmlformats.org/drawingml/2006/main">
          <a:off x="1193800" y="2444750"/>
          <a:ext cx="3321050" cy="279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IN" sz="1100" kern="1200"/>
        </a:p>
      </cdr:txBody>
    </cdr:sp>
  </cdr:relSizeAnchor>
  <cdr:relSizeAnchor xmlns:cdr="http://schemas.openxmlformats.org/drawingml/2006/chartDrawing">
    <cdr:from>
      <cdr:x>0.12361</cdr:x>
      <cdr:y>0.85417</cdr:y>
    </cdr:from>
    <cdr:to>
      <cdr:x>0.9875</cdr:x>
      <cdr:y>0.9838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4DFC266-421A-8CBE-0ED3-F8C27940224C}"/>
            </a:ext>
          </a:extLst>
        </cdr:cNvPr>
        <cdr:cNvSpPr txBox="1"/>
      </cdr:nvSpPr>
      <cdr:spPr>
        <a:xfrm xmlns:a="http://schemas.openxmlformats.org/drawingml/2006/main">
          <a:off x="565150" y="2343150"/>
          <a:ext cx="3949700" cy="355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IN" sz="1100" kern="120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IN" sz="3500">
                <a:solidFill>
                  <a:schemeClr val="tx2"/>
                </a:solidFill>
              </a:rPr>
              <a:t>Streaming Service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C4F2019-C2FE-A387-813C-02843038B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Analysis &amp; Insights</a:t>
            </a:r>
            <a:endParaRPr lang="en-IN" sz="1700">
              <a:solidFill>
                <a:schemeClr val="tx2"/>
              </a:solidFill>
            </a:endParaRPr>
          </a:p>
        </p:txBody>
      </p:sp>
      <p:pic>
        <p:nvPicPr>
          <p:cNvPr id="9" name="Graphic 8" descr="Bar chart">
            <a:extLst>
              <a:ext uri="{FF2B5EF4-FFF2-40B4-BE49-F238E27FC236}">
                <a16:creationId xmlns:a16="http://schemas.microsoft.com/office/drawing/2014/main" id="{A6451674-8E0F-7D9C-51D7-E2747E5A7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Users by Price Tier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sX0" fmla="*/ 0 w 13716"/>
              <a:gd name="csY0" fmla="*/ 0 h 5590381"/>
              <a:gd name="csX1" fmla="*/ 13716 w 13716"/>
              <a:gd name="csY1" fmla="*/ 0 h 5590381"/>
              <a:gd name="csX2" fmla="*/ 13716 w 13716"/>
              <a:gd name="csY2" fmla="*/ 754701 h 5590381"/>
              <a:gd name="csX3" fmla="*/ 13716 w 13716"/>
              <a:gd name="csY3" fmla="*/ 1565307 h 5590381"/>
              <a:gd name="csX4" fmla="*/ 13716 w 13716"/>
              <a:gd name="csY4" fmla="*/ 2152297 h 5590381"/>
              <a:gd name="csX5" fmla="*/ 13716 w 13716"/>
              <a:gd name="csY5" fmla="*/ 2906998 h 5590381"/>
              <a:gd name="csX6" fmla="*/ 13716 w 13716"/>
              <a:gd name="csY6" fmla="*/ 3549892 h 5590381"/>
              <a:gd name="csX7" fmla="*/ 13716 w 13716"/>
              <a:gd name="csY7" fmla="*/ 4080978 h 5590381"/>
              <a:gd name="csX8" fmla="*/ 13716 w 13716"/>
              <a:gd name="csY8" fmla="*/ 4835680 h 5590381"/>
              <a:gd name="csX9" fmla="*/ 13716 w 13716"/>
              <a:gd name="csY9" fmla="*/ 5590381 h 5590381"/>
              <a:gd name="csX10" fmla="*/ 0 w 13716"/>
              <a:gd name="csY10" fmla="*/ 5590381 h 5590381"/>
              <a:gd name="csX11" fmla="*/ 0 w 13716"/>
              <a:gd name="csY11" fmla="*/ 4835680 h 5590381"/>
              <a:gd name="csX12" fmla="*/ 0 w 13716"/>
              <a:gd name="csY12" fmla="*/ 4304593 h 5590381"/>
              <a:gd name="csX13" fmla="*/ 0 w 13716"/>
              <a:gd name="csY13" fmla="*/ 3773507 h 5590381"/>
              <a:gd name="csX14" fmla="*/ 0 w 13716"/>
              <a:gd name="csY14" fmla="*/ 3186517 h 5590381"/>
              <a:gd name="csX15" fmla="*/ 0 w 13716"/>
              <a:gd name="csY15" fmla="*/ 2487720 h 5590381"/>
              <a:gd name="csX16" fmla="*/ 0 w 13716"/>
              <a:gd name="csY16" fmla="*/ 1956633 h 5590381"/>
              <a:gd name="csX17" fmla="*/ 0 w 13716"/>
              <a:gd name="csY17" fmla="*/ 1425547 h 5590381"/>
              <a:gd name="csX18" fmla="*/ 0 w 13716"/>
              <a:gd name="csY18" fmla="*/ 614942 h 5590381"/>
              <a:gd name="csX19" fmla="*/ 0 w 13716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2" y="4798577"/>
            <a:ext cx="5170932" cy="1428487"/>
          </a:xfrm>
        </p:spPr>
        <p:txBody>
          <a:bodyPr anchor="t">
            <a:normAutofit/>
          </a:bodyPr>
          <a:lstStyle/>
          <a:p>
            <a:r>
              <a:rPr lang="en-US" sz="1900"/>
              <a:t> The 11.99 plan has the largest user base.</a:t>
            </a:r>
          </a:p>
          <a:p>
            <a:r>
              <a:rPr lang="en-US" sz="1900"/>
              <a:t> The 15.99 plan earns highest revenue</a:t>
            </a:r>
          </a:p>
          <a:p>
            <a:pPr marL="0" indent="0">
              <a:buNone/>
            </a:pPr>
            <a:endParaRPr lang="en-US" sz="190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D4BEE13-507C-225E-384E-1BB5FA4D1B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2320591"/>
              </p:ext>
            </p:extLst>
          </p:nvPr>
        </p:nvGraphicFramePr>
        <p:xfrm>
          <a:off x="3490722" y="630936"/>
          <a:ext cx="5170932" cy="3913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IN" sz="3100"/>
              <a:t>Watch Hours Distribution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r>
              <a:rPr lang="en-US" sz="1600"/>
              <a:t>Movies have the highest watched hours of 515.9 hours as compare to series.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2346AAB-9954-09D1-2FBD-30A4A1D9D7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302104"/>
              </p:ext>
            </p:extLst>
          </p:nvPr>
        </p:nvGraphicFramePr>
        <p:xfrm>
          <a:off x="4490803" y="650494"/>
          <a:ext cx="4221014" cy="5324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Recommended Content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1619476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 </a:t>
            </a:r>
            <a:r>
              <a:rPr lang="en-US" sz="3400" dirty="0"/>
              <a:t>In this snapshot, the count of recommended titles consumed shows no significant correlation with total watch hours.</a:t>
            </a:r>
          </a:p>
          <a:p>
            <a:r>
              <a:rPr lang="en-US" sz="3400" dirty="0"/>
              <a:t> focus on recommendation quality and targeting, not volume.</a:t>
            </a:r>
            <a:endParaRPr sz="34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6E906EB-F8D8-332D-C8FF-2D4DA7C4BD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407889"/>
              </p:ext>
            </p:extLst>
          </p:nvPr>
        </p:nvGraphicFramePr>
        <p:xfrm>
          <a:off x="326572" y="3222171"/>
          <a:ext cx="8088086" cy="3069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IN" sz="2800"/>
              <a:t>Device Usage Trends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 dirty="0"/>
              <a:t> Tablet, Smartphones &amp; Smart TVs dominate usage.</a:t>
            </a:r>
          </a:p>
          <a:p>
            <a:r>
              <a:rPr lang="en-US" sz="1600" dirty="0"/>
              <a:t>Laptops and Desktop remain relevant.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025B473-AD86-72F8-B4A8-83AEFEE23C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7004073"/>
              </p:ext>
            </p:extLst>
          </p:nvPr>
        </p:nvGraphicFramePr>
        <p:xfrm>
          <a:off x="418338" y="2734056"/>
          <a:ext cx="8373618" cy="3483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305" y="802955"/>
            <a:ext cx="3574747" cy="1454051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Peak Watch Time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" y="-369"/>
            <a:ext cx="4568256" cy="6858000"/>
            <a:chOff x="305" y="-369"/>
            <a:chExt cx="6091008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5804" y="2421683"/>
            <a:ext cx="3574461" cy="3353476"/>
          </a:xfrm>
        </p:spPr>
        <p:txBody>
          <a:bodyPr anchor="t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Late Night most preferred.</a:t>
            </a:r>
          </a:p>
          <a:p>
            <a:r>
              <a:rPr lang="en-US" sz="1600">
                <a:solidFill>
                  <a:schemeClr val="tx2"/>
                </a:solidFill>
              </a:rPr>
              <a:t>Strong Evening &amp; Afternoon engagement.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AC0B333-E146-6B6B-D935-4A8D4F9716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7685570"/>
              </p:ext>
            </p:extLst>
          </p:nvPr>
        </p:nvGraphicFramePr>
        <p:xfrm>
          <a:off x="505827" y="1700784"/>
          <a:ext cx="2839212" cy="3785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IN" sz="3100"/>
              <a:t>Loyalty Points Distribution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r>
              <a:rPr lang="en-US" sz="1600" dirty="0"/>
              <a:t>Most users fall in mid‑range loyalty tier.</a:t>
            </a:r>
          </a:p>
          <a:p>
            <a:r>
              <a:rPr lang="en-US" sz="1600" dirty="0"/>
              <a:t>High‑loyalty users present premium potential.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C9054F6-D948-C775-7B3C-4E7731AA4C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1438663"/>
              </p:ext>
            </p:extLst>
          </p:nvPr>
        </p:nvGraphicFramePr>
        <p:xfrm>
          <a:off x="4490803" y="650494"/>
          <a:ext cx="4221014" cy="5324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823"/>
            <a:ext cx="2564892" cy="5583148"/>
          </a:xfrm>
        </p:spPr>
        <p:txBody>
          <a:bodyPr anchor="ctr">
            <a:normAutofit/>
          </a:bodyPr>
          <a:lstStyle/>
          <a:p>
            <a:r>
              <a:rPr lang="en-IN" sz="3600"/>
              <a:t>Payment Method Distribution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00400" y="630936"/>
            <a:ext cx="13716" cy="5590381"/>
          </a:xfrm>
          <a:custGeom>
            <a:avLst/>
            <a:gdLst>
              <a:gd name="csX0" fmla="*/ 0 w 13716"/>
              <a:gd name="csY0" fmla="*/ 0 h 5590381"/>
              <a:gd name="csX1" fmla="*/ 13716 w 13716"/>
              <a:gd name="csY1" fmla="*/ 0 h 5590381"/>
              <a:gd name="csX2" fmla="*/ 13716 w 13716"/>
              <a:gd name="csY2" fmla="*/ 754701 h 5590381"/>
              <a:gd name="csX3" fmla="*/ 13716 w 13716"/>
              <a:gd name="csY3" fmla="*/ 1565307 h 5590381"/>
              <a:gd name="csX4" fmla="*/ 13716 w 13716"/>
              <a:gd name="csY4" fmla="*/ 2152297 h 5590381"/>
              <a:gd name="csX5" fmla="*/ 13716 w 13716"/>
              <a:gd name="csY5" fmla="*/ 2906998 h 5590381"/>
              <a:gd name="csX6" fmla="*/ 13716 w 13716"/>
              <a:gd name="csY6" fmla="*/ 3549892 h 5590381"/>
              <a:gd name="csX7" fmla="*/ 13716 w 13716"/>
              <a:gd name="csY7" fmla="*/ 4080978 h 5590381"/>
              <a:gd name="csX8" fmla="*/ 13716 w 13716"/>
              <a:gd name="csY8" fmla="*/ 4835680 h 5590381"/>
              <a:gd name="csX9" fmla="*/ 13716 w 13716"/>
              <a:gd name="csY9" fmla="*/ 5590381 h 5590381"/>
              <a:gd name="csX10" fmla="*/ 0 w 13716"/>
              <a:gd name="csY10" fmla="*/ 5590381 h 5590381"/>
              <a:gd name="csX11" fmla="*/ 0 w 13716"/>
              <a:gd name="csY11" fmla="*/ 4835680 h 5590381"/>
              <a:gd name="csX12" fmla="*/ 0 w 13716"/>
              <a:gd name="csY12" fmla="*/ 4304593 h 5590381"/>
              <a:gd name="csX13" fmla="*/ 0 w 13716"/>
              <a:gd name="csY13" fmla="*/ 3773507 h 5590381"/>
              <a:gd name="csX14" fmla="*/ 0 w 13716"/>
              <a:gd name="csY14" fmla="*/ 3186517 h 5590381"/>
              <a:gd name="csX15" fmla="*/ 0 w 13716"/>
              <a:gd name="csY15" fmla="*/ 2487720 h 5590381"/>
              <a:gd name="csX16" fmla="*/ 0 w 13716"/>
              <a:gd name="csY16" fmla="*/ 1956633 h 5590381"/>
              <a:gd name="csX17" fmla="*/ 0 w 13716"/>
              <a:gd name="csY17" fmla="*/ 1425547 h 5590381"/>
              <a:gd name="csX18" fmla="*/ 0 w 13716"/>
              <a:gd name="csY18" fmla="*/ 614942 h 5590381"/>
              <a:gd name="csX19" fmla="*/ 0 w 13716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3716" h="5590381" fill="none" extrusionOk="0">
                <a:moveTo>
                  <a:pt x="0" y="0"/>
                </a:moveTo>
                <a:cubicBezTo>
                  <a:pt x="6519" y="-664"/>
                  <a:pt x="8288" y="665"/>
                  <a:pt x="13716" y="0"/>
                </a:cubicBezTo>
                <a:cubicBezTo>
                  <a:pt x="-9798" y="225076"/>
                  <a:pt x="41703" y="562283"/>
                  <a:pt x="13716" y="754701"/>
                </a:cubicBezTo>
                <a:cubicBezTo>
                  <a:pt x="-14271" y="947119"/>
                  <a:pt x="25509" y="1239251"/>
                  <a:pt x="13716" y="1565307"/>
                </a:cubicBezTo>
                <a:cubicBezTo>
                  <a:pt x="1923" y="1891363"/>
                  <a:pt x="2588" y="1999140"/>
                  <a:pt x="13716" y="2152297"/>
                </a:cubicBezTo>
                <a:cubicBezTo>
                  <a:pt x="24845" y="2305454"/>
                  <a:pt x="24133" y="2598333"/>
                  <a:pt x="13716" y="2906998"/>
                </a:cubicBezTo>
                <a:cubicBezTo>
                  <a:pt x="3299" y="3215663"/>
                  <a:pt x="30691" y="3327412"/>
                  <a:pt x="13716" y="3549892"/>
                </a:cubicBezTo>
                <a:cubicBezTo>
                  <a:pt x="-3259" y="3772372"/>
                  <a:pt x="33989" y="3843836"/>
                  <a:pt x="13716" y="4080978"/>
                </a:cubicBezTo>
                <a:cubicBezTo>
                  <a:pt x="-6557" y="4318120"/>
                  <a:pt x="-8378" y="4511166"/>
                  <a:pt x="13716" y="4835680"/>
                </a:cubicBezTo>
                <a:cubicBezTo>
                  <a:pt x="35810" y="5160194"/>
                  <a:pt x="-17642" y="5401748"/>
                  <a:pt x="13716" y="5590381"/>
                </a:cubicBezTo>
                <a:cubicBezTo>
                  <a:pt x="8599" y="5590092"/>
                  <a:pt x="6708" y="5590668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3716" h="5590381" stroke="0" extrusionOk="0">
                <a:moveTo>
                  <a:pt x="0" y="0"/>
                </a:moveTo>
                <a:cubicBezTo>
                  <a:pt x="4626" y="620"/>
                  <a:pt x="7856" y="-428"/>
                  <a:pt x="13716" y="0"/>
                </a:cubicBezTo>
                <a:cubicBezTo>
                  <a:pt x="36569" y="165299"/>
                  <a:pt x="-959" y="427555"/>
                  <a:pt x="13716" y="698798"/>
                </a:cubicBezTo>
                <a:cubicBezTo>
                  <a:pt x="28391" y="970041"/>
                  <a:pt x="15108" y="1226199"/>
                  <a:pt x="13716" y="1397595"/>
                </a:cubicBezTo>
                <a:cubicBezTo>
                  <a:pt x="12324" y="1568991"/>
                  <a:pt x="34226" y="1794517"/>
                  <a:pt x="13716" y="2152297"/>
                </a:cubicBezTo>
                <a:cubicBezTo>
                  <a:pt x="-6794" y="2510077"/>
                  <a:pt x="36274" y="2594424"/>
                  <a:pt x="13716" y="2739287"/>
                </a:cubicBezTo>
                <a:cubicBezTo>
                  <a:pt x="-8842" y="2884150"/>
                  <a:pt x="22545" y="3129706"/>
                  <a:pt x="13716" y="3493988"/>
                </a:cubicBezTo>
                <a:cubicBezTo>
                  <a:pt x="4887" y="3858270"/>
                  <a:pt x="49629" y="4041447"/>
                  <a:pt x="13716" y="4304593"/>
                </a:cubicBezTo>
                <a:cubicBezTo>
                  <a:pt x="-22197" y="4567740"/>
                  <a:pt x="45055" y="5149125"/>
                  <a:pt x="13716" y="5590381"/>
                </a:cubicBezTo>
                <a:cubicBezTo>
                  <a:pt x="9649" y="5590058"/>
                  <a:pt x="6483" y="5589928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2" y="4798577"/>
            <a:ext cx="5170932" cy="1428487"/>
          </a:xfrm>
        </p:spPr>
        <p:txBody>
          <a:bodyPr anchor="t">
            <a:normAutofit/>
          </a:bodyPr>
          <a:lstStyle/>
          <a:p>
            <a:r>
              <a:rPr lang="en-US" sz="1900"/>
              <a:t> PayPal and Cryptocurrency dominate.</a:t>
            </a:r>
          </a:p>
          <a:p>
            <a:r>
              <a:rPr lang="en-US" sz="1900"/>
              <a:t> Debit &amp; Credit card usage are also significant.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B298C8B-BD26-5035-F884-5C82BF392A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6983491"/>
              </p:ext>
            </p:extLst>
          </p:nvPr>
        </p:nvGraphicFramePr>
        <p:xfrm>
          <a:off x="3490722" y="630936"/>
          <a:ext cx="5170932" cy="3913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IN" sz="3100"/>
              <a:t>Subscription Trends by Country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r>
              <a:rPr lang="en-US" sz="1600"/>
              <a:t> Clear variation across countries.</a:t>
            </a:r>
          </a:p>
          <a:p>
            <a:r>
              <a:rPr lang="en-US" sz="1600"/>
              <a:t> Premium tier more popular in some regions.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495A143-6A30-F6E7-FB79-ACC7022B59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761879"/>
              </p:ext>
            </p:extLst>
          </p:nvPr>
        </p:nvGraphicFramePr>
        <p:xfrm>
          <a:off x="4490803" y="650494"/>
          <a:ext cx="4221014" cy="5324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Language Preference vs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36914"/>
          </a:xfrm>
        </p:spPr>
        <p:txBody>
          <a:bodyPr>
            <a:normAutofit/>
          </a:bodyPr>
          <a:lstStyle/>
          <a:p>
            <a:r>
              <a:rPr dirty="0"/>
              <a:t> Certain languages show higher engagement.</a:t>
            </a:r>
          </a:p>
          <a:p>
            <a:r>
              <a:rPr dirty="0"/>
              <a:t> Localization boosts usage.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91ED0A2-6EDA-40EF-1297-4AA802BDE8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152311"/>
              </p:ext>
            </p:extLst>
          </p:nvPr>
        </p:nvGraphicFramePr>
        <p:xfrm>
          <a:off x="544286" y="3037115"/>
          <a:ext cx="8022771" cy="3331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Frequency (Recency)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11086"/>
          </a:xfrm>
        </p:spPr>
        <p:txBody>
          <a:bodyPr>
            <a:normAutofit/>
          </a:bodyPr>
          <a:lstStyle/>
          <a:p>
            <a:r>
              <a:rPr dirty="0"/>
              <a:t> Majority of users log in regularly.</a:t>
            </a:r>
          </a:p>
          <a:p>
            <a:r>
              <a:rPr dirty="0"/>
              <a:t> Older recency groups indicate churn risk.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8D59495-2598-901F-6448-18076048E9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5976005"/>
              </p:ext>
            </p:extLst>
          </p:nvPr>
        </p:nvGraphicFramePr>
        <p:xfrm>
          <a:off x="250371" y="2939143"/>
          <a:ext cx="8436429" cy="3331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Download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82486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 Significant number rely on offline downloads.</a:t>
            </a:r>
            <a:endParaRPr lang="en-US" dirty="0"/>
          </a:p>
          <a:p>
            <a:r>
              <a:rPr lang="en-US" dirty="0"/>
              <a:t> True represents the user has downloaded the movie or series.</a:t>
            </a:r>
            <a:endParaRPr dirty="0"/>
          </a:p>
          <a:p>
            <a:r>
              <a:rPr dirty="0"/>
              <a:t> Indicates travel/low-connectivity users.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A7D0DDB-7393-0CFA-6AD6-4649164A00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1626610"/>
              </p:ext>
            </p:extLst>
          </p:nvPr>
        </p:nvGraphicFramePr>
        <p:xfrm>
          <a:off x="1099457" y="2982686"/>
          <a:ext cx="7173686" cy="336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Strong </a:t>
            </a:r>
            <a:r>
              <a:rPr lang="en-US" dirty="0"/>
              <a:t>Tablet, Smart phone, Smart TVs</a:t>
            </a:r>
            <a:r>
              <a:rPr dirty="0"/>
              <a:t> and late-night viewing trends.</a:t>
            </a:r>
          </a:p>
          <a:p>
            <a:r>
              <a:rPr dirty="0"/>
              <a:t>Recommendations</a:t>
            </a:r>
            <a:r>
              <a:rPr lang="en-US" dirty="0"/>
              <a:t> do not</a:t>
            </a:r>
            <a:r>
              <a:rPr dirty="0"/>
              <a:t> significantly boost engagement.</a:t>
            </a:r>
          </a:p>
          <a:p>
            <a:r>
              <a:rPr dirty="0"/>
              <a:t>Payment preferences vary across regions.</a:t>
            </a:r>
          </a:p>
          <a:p>
            <a:r>
              <a:rPr dirty="0"/>
              <a:t> Loyalty program shows room for growth.</a:t>
            </a:r>
          </a:p>
          <a:p>
            <a:r>
              <a:t> </a:t>
            </a:r>
            <a:r>
              <a:rPr dirty="0"/>
              <a:t>Overall user activity indicates healthy platform retention.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386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Streaming Service Analysis</vt:lpstr>
      <vt:lpstr>Users by Price Tier</vt:lpstr>
      <vt:lpstr>Watch Hours Distribution</vt:lpstr>
      <vt:lpstr>Recommended Content Impact</vt:lpstr>
      <vt:lpstr>Device Usage Trends</vt:lpstr>
      <vt:lpstr>Peak Watch Time</vt:lpstr>
      <vt:lpstr>Loyalty Points Distribution</vt:lpstr>
      <vt:lpstr>Payment Method Distribution</vt:lpstr>
      <vt:lpstr>Subscription Trends by Country</vt:lpstr>
      <vt:lpstr>Language Preference vs Engagement</vt:lpstr>
      <vt:lpstr>Login Frequency (Recency)</vt:lpstr>
      <vt:lpstr>Content Download Behavior</vt:lpstr>
      <vt:lpstr>Key Insights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Roy, Manojit</cp:lastModifiedBy>
  <cp:revision>5</cp:revision>
  <dcterms:created xsi:type="dcterms:W3CDTF">2013-01-27T09:14:16Z</dcterms:created>
  <dcterms:modified xsi:type="dcterms:W3CDTF">2026-02-21T16:26:03Z</dcterms:modified>
  <cp:category/>
</cp:coreProperties>
</file>